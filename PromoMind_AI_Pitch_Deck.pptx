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A73E8"/>
                </a:solidFill>
                <a:latin typeface="Google Sans"/>
              </a:defRPr>
            </a:pPr>
            <a:r>
              <a:t>Google Cloud AI Builder Cup 2026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>
              <a:spcAft>
                <a:spcPts val="1400"/>
              </a:spcAft>
              <a:defRPr sz="2200" b="1">
                <a:solidFill>
                  <a:srgbClr val="111827"/>
                </a:solidFill>
                <a:latin typeface="Google Sans"/>
              </a:defRPr>
            </a:pPr>
            <a:r>
              <a:t>Team Details &amp; Submission</a:t>
            </a:r>
          </a:p>
          <a:p>
            <a:pPr>
              <a:defRPr sz="1400" b="1">
                <a:solidFill>
                  <a:srgbClr val="1F2937"/>
                </a:solidFill>
                <a:latin typeface="Arial"/>
              </a:defRPr>
            </a:pPr>
            <a:r>
              <a:t>Team Name:  PromoMind AI</a:t>
            </a:r>
          </a:p>
          <a:p>
            <a:pPr>
              <a:spcAft>
                <a:spcPts val="1000"/>
              </a:spcAft>
              <a:defRPr sz="1400" b="1">
                <a:solidFill>
                  <a:srgbClr val="1F2937"/>
                </a:solidFill>
                <a:latin typeface="Arial"/>
              </a:defRPr>
            </a:pPr>
            <a:r>
              <a:t>Team Leader:  Nitish R Naik</a:t>
            </a:r>
          </a:p>
          <a:p>
            <a:pPr>
              <a:defRPr sz="1300" b="1">
                <a:solidFill>
                  <a:srgbClr val="1A73E8"/>
                </a:solidFill>
                <a:latin typeface="Google Sans"/>
              </a:defRPr>
            </a:pPr>
            <a:r>
              <a:t>Problem Statement:</a:t>
            </a:r>
          </a:p>
          <a:p>
            <a:pPr>
              <a:defRPr sz="1300">
                <a:solidFill>
                  <a:srgbClr val="4B5563"/>
                </a:solidFill>
                <a:latin typeface="Arial"/>
              </a:defRPr>
            </a:pPr>
            <a:r>
              <a:t>Autonomous Retail Demand Forecasting, Dynamic AI Sales Copilot, Capital Risk Mitigation &amp; Festival Intelligence for Independent Supermarkets.</a:t>
            </a:r>
          </a:p>
          <a:p>
            <a:pPr>
              <a:defRPr sz="1100" b="1">
                <a:solidFill>
                  <a:srgbClr val="0F9D58"/>
                </a:solidFill>
                <a:latin typeface="Arial"/>
              </a:defRPr>
            </a:pPr>
            <a:r>
              <a:t>Google Cloud Stack: Vertex AI (Google Gemini models), Google Cloud Firestore, Google Cloud Run, Cloud Storage</a:t>
            </a: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rgbClr val="111827"/>
                </a:solidFill>
              </a:defRPr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365760" y="1188720"/>
            <a:ext cx="246888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1234440"/>
            <a:ext cx="2377440" cy="3383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Google Sans"/>
              </a:defRPr>
            </a:pPr>
            <a:r>
              <a:t>🚨 The Retail Crisis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Arial"/>
              </a:defRPr>
            </a:pPr>
            <a:r>
              <a:t>• Independent supermarkets represent over $600 Billion in annual commerce worldwide.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Arial"/>
              </a:defRPr>
            </a:pPr>
            <a:r>
              <a:t>• Over 28% of merchant working capital remains trapped in slow-moving, dead inventory.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Arial"/>
              </a:defRPr>
            </a:pPr>
            <a:r>
              <a:t>• Festive wholesale price shocks catch retailers unprepared without advance stocking.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Arial"/>
              </a:defRPr>
            </a:pPr>
            <a:r>
              <a:t>• Blind 20% discounts destroy retail gross margins without delivering volume lift.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017520" y="1188720"/>
            <a:ext cx="2560320" cy="34747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063240" y="1234440"/>
            <a:ext cx="2468880" cy="3383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1A73E8"/>
                </a:solidFill>
                <a:latin typeface="Google Sans"/>
              </a:defRPr>
            </a:pPr>
            <a:r>
              <a:t>💡 What is PromoMind AI?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Arial"/>
              </a:defRPr>
            </a:pPr>
            <a:r>
              <a:t>• The Autonomous Retail Intelligence Platform uniting predictive math with generative AI.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Arial"/>
              </a:defRPr>
            </a:pPr>
            <a:r>
              <a:t>• Bi-Cameral Engine: Deterministic math solves demand equations; Google Gemini models reasons dynamically.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Arial"/>
              </a:defRPr>
            </a:pPr>
            <a:r>
              <a:t>• Smart POS Ingestion: Normalizes messy POS CSV/Excel and syncs 50 to 70 SKUs to Cloud Firestore in &lt;450ms.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Arial"/>
              </a:defRPr>
            </a:pPr>
            <a:r>
              <a:t>• Holt-Winters Forecasting: Multi-brand 4-week demand curves with FMCG brand-switch recommendations.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760720" y="1188720"/>
            <a:ext cx="2743200" cy="3474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806440" y="1234440"/>
            <a:ext cx="2651760" cy="3383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0F9D58"/>
                </a:solidFill>
                <a:latin typeface="Google Sans"/>
              </a:defRPr>
            </a:pPr>
            <a:r>
              <a:t>📈 Tangible Business ROI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Arial"/>
              </a:defRPr>
            </a:pPr>
            <a:r>
              <a:t>• Unlocks Trapped Capital: Recovers 34%+ of dead inventory cash via algorithmic clearance bundles.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Arial"/>
              </a:defRPr>
            </a:pPr>
            <a:r>
              <a:t>• Hard Margin Safeguards: Enforces non-negotiable gross margin floor (e.g. &gt;= 18%) on all promotions.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Arial"/>
              </a:defRPr>
            </a:pPr>
            <a:r>
              <a:t>• Accelerated Turnover: Speeds up store inventory turnover cycle by 6 to 8 days.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  <a:latin typeface="Arial"/>
              </a:defRPr>
            </a:pPr>
            <a:r>
              <a:t>• Omnichannel Collateral: Generates one-click WhatsApp broadcasts, cashier POS scripts &amp; A4 shelf posters.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111827"/>
                </a:solidFill>
                <a:latin typeface="Google Sans"/>
              </a:defRPr>
            </a:pPr>
            <a:r>
              <a:t>Opportunities &amp; Unfair Competitive Advantage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365760" y="1188720"/>
            <a:ext cx="256032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1480" y="1234440"/>
            <a:ext cx="2468880" cy="3383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Google Sans"/>
              </a:defRPr>
            </a:pPr>
            <a:r>
              <a:t>1. How is it different?</a:t>
            </a:r>
          </a:p>
          <a:p>
            <a:pPr>
              <a:spcAft>
                <a:spcPts val="100"/>
              </a:spcAft>
              <a:defRPr sz="1000" b="1">
                <a:solidFill>
                  <a:srgbClr val="111827"/>
                </a:solidFill>
                <a:latin typeface="Arial"/>
              </a:defRPr>
            </a:pPr>
            <a:r>
              <a:t>Generic LLM Wrappers: </a:t>
            </a:r>
          </a:p>
          <a:p>
            <a:pPr>
              <a:spcAft>
                <a:spcPts val="4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Hallucinate prices and have zero connection to live store inventory or wholesale costs.</a:t>
            </a:r>
          </a:p>
          <a:p>
            <a:pPr>
              <a:spcAft>
                <a:spcPts val="100"/>
              </a:spcAft>
              <a:defRPr sz="1000" b="1">
                <a:solidFill>
                  <a:srgbClr val="111827"/>
                </a:solidFill>
                <a:latin typeface="Arial"/>
              </a:defRPr>
            </a:pPr>
            <a:r>
              <a:t>Legacy ERPs (SAP/Oracle): </a:t>
            </a:r>
          </a:p>
          <a:p>
            <a:pPr>
              <a:spcAft>
                <a:spcPts val="4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Cost thousands of dollars/mo, require dedicated IT staff, and lack predictive AI for unorganized retail.</a:t>
            </a:r>
          </a:p>
          <a:p>
            <a:pPr>
              <a:spcAft>
                <a:spcPts val="100"/>
              </a:spcAft>
              <a:defRPr sz="1000" b="1">
                <a:solidFill>
                  <a:srgbClr val="111827"/>
                </a:solidFill>
                <a:latin typeface="Arial"/>
              </a:defRPr>
            </a:pPr>
            <a:r>
              <a:t>PromoMind AI Innovation: </a:t>
            </a:r>
          </a:p>
          <a:p>
            <a:pPr>
              <a:spcAft>
                <a:spcPts val="4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Bi-cameral cognitive-deterministic engine. Closed-form PED math + Google Gemini models reasoning.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108960" y="1188720"/>
            <a:ext cx="256032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154680" y="1234440"/>
            <a:ext cx="2468880" cy="3383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7C3AED"/>
                </a:solidFill>
                <a:latin typeface="Google Sans"/>
              </a:defRPr>
            </a:pPr>
            <a:r>
              <a:t>2. How does it solve it?</a:t>
            </a:r>
          </a:p>
          <a:p>
            <a:pPr>
              <a:spcAft>
                <a:spcPts val="100"/>
              </a:spcAft>
              <a:defRPr sz="1000" b="1">
                <a:solidFill>
                  <a:srgbClr val="111827"/>
                </a:solidFill>
                <a:latin typeface="Arial"/>
              </a:defRPr>
            </a:pPr>
            <a:r>
              <a:t>4-Week Holt-Winters Demand: </a:t>
            </a:r>
          </a:p>
          <a:p>
            <a:pPr>
              <a:spcAft>
                <a:spcPts val="4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Predicts upcoming weekly volume surges, stockout risks, and FMCG brand substitution demand.</a:t>
            </a:r>
          </a:p>
          <a:p>
            <a:pPr>
              <a:spcAft>
                <a:spcPts val="100"/>
              </a:spcAft>
              <a:defRPr sz="1000" b="1">
                <a:solidFill>
                  <a:srgbClr val="111827"/>
                </a:solidFill>
                <a:latin typeface="Arial"/>
              </a:defRPr>
            </a:pPr>
            <a:r>
              <a:t>3-Horizon Festival Planning: </a:t>
            </a:r>
          </a:p>
          <a:p>
            <a:pPr>
              <a:spcAft>
                <a:spcPts val="4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T-14d wholesale procurement alerts, T-7d WhatsApp hamper launches, and T+2d post-festive clearance.</a:t>
            </a:r>
          </a:p>
          <a:p>
            <a:pPr>
              <a:spcAft>
                <a:spcPts val="100"/>
              </a:spcAft>
              <a:defRPr sz="1000" b="1">
                <a:solidFill>
                  <a:srgbClr val="111827"/>
                </a:solidFill>
                <a:latin typeface="Arial"/>
              </a:defRPr>
            </a:pPr>
            <a:r>
              <a:t>Floor-Ready Cashier Scripts: </a:t>
            </a:r>
          </a:p>
          <a:p>
            <a:pPr>
              <a:spcAft>
                <a:spcPts val="4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Equips billing staff with 10s verbal pitches quoting exact rupee savings (e.g. 'Flat ₹81 save!').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852160" y="1188720"/>
            <a:ext cx="2651760" cy="34747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897880" y="1234440"/>
            <a:ext cx="2560320" cy="3383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Google Sans"/>
              </a:defRPr>
            </a:pPr>
            <a:r>
              <a:t>3. Unique Selling Proposition</a:t>
            </a:r>
          </a:p>
          <a:p>
            <a:pPr>
              <a:spcAft>
                <a:spcPts val="100"/>
              </a:spcAft>
              <a:defRPr sz="1000" b="1">
                <a:solidFill>
                  <a:srgbClr val="111827"/>
                </a:solidFill>
                <a:latin typeface="Arial"/>
              </a:defRPr>
            </a:pPr>
            <a:r>
              <a:t>Zero-Downtime Dual Storage: </a:t>
            </a:r>
          </a:p>
          <a:p>
            <a:pPr>
              <a:spcAft>
                <a:spcPts val="4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Google Cloud Firestore multi-tenant tenancy with seamless offline fallback for internet outages.</a:t>
            </a:r>
          </a:p>
          <a:p>
            <a:pPr>
              <a:spcAft>
                <a:spcPts val="100"/>
              </a:spcAft>
              <a:defRPr sz="1000" b="1">
                <a:solidFill>
                  <a:srgbClr val="111827"/>
                </a:solidFill>
                <a:latin typeface="Arial"/>
              </a:defRPr>
            </a:pPr>
            <a:r>
              <a:t>Interactive ROI Simulator: </a:t>
            </a:r>
          </a:p>
          <a:p>
            <a:pPr>
              <a:spcAft>
                <a:spcPts val="4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Retailers drag discount &amp; volume sliders to stress-test profit rupees before risking capital.</a:t>
            </a:r>
          </a:p>
          <a:p>
            <a:pPr>
              <a:spcAft>
                <a:spcPts val="100"/>
              </a:spcAft>
              <a:defRPr sz="1000" b="1">
                <a:solidFill>
                  <a:srgbClr val="111827"/>
                </a:solidFill>
                <a:latin typeface="Arial"/>
              </a:defRPr>
            </a:pPr>
            <a:r>
              <a:t>Omnichannel Studio in Seconds: </a:t>
            </a:r>
          </a:p>
          <a:p>
            <a:pPr>
              <a:spcAft>
                <a:spcPts val="4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One-click WhatsApp campaign copy, printable shelf posters, and POS scripts generated concurrently.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111827"/>
                </a:solidFill>
                <a:latin typeface="Google Sans"/>
              </a:defRPr>
            </a:pPr>
            <a:r>
              <a:t>Comprehensive Feature Architecture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365760" y="1188720"/>
            <a:ext cx="3840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" y="1234440"/>
            <a:ext cx="365760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1A73E8"/>
                </a:solidFill>
                <a:latin typeface="Google Sans"/>
              </a:defRPr>
            </a:pPr>
            <a:r>
              <a:t>1. Smart POS / CSV Ingestion</a:t>
            </a:r>
          </a:p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Normalizes messy spreadsheet headers, auto-categorizes SKUs, and provisions Firestore in &lt;450ms.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389120" y="1188720"/>
            <a:ext cx="3840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480560" y="1234440"/>
            <a:ext cx="365760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0F9D58"/>
                </a:solidFill>
                <a:latin typeface="Google Sans"/>
              </a:defRPr>
            </a:pPr>
            <a:r>
              <a:t>2. Multi-Brand Demand Curves</a:t>
            </a:r>
          </a:p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Holt-Winters 4-week forecasts comparing Fortune vs Sunpure Oil on the exact same demand graph.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65760" y="2057400"/>
            <a:ext cx="3840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57200" y="2103120"/>
            <a:ext cx="365760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Google Sans"/>
              </a:defRPr>
            </a:pPr>
            <a:r>
              <a:t>3. What-If ROI Simulator</a:t>
            </a:r>
          </a:p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Interactive sliders (5-30% discount, 10-80% volume lift) with Price Elasticity modeling.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389120" y="2057400"/>
            <a:ext cx="3840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480560" y="2103120"/>
            <a:ext cx="365760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Google Sans"/>
              </a:defRPr>
            </a:pPr>
            <a:r>
              <a:t>4. Dynamic AI Sales Copilot</a:t>
            </a:r>
          </a:p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Powered by Google Gemini models on Vertex AI. Formulates high-margin bundles with cognitive traces.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65760" y="2926080"/>
            <a:ext cx="3840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57200" y="2971800"/>
            <a:ext cx="365760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1A73E8"/>
                </a:solidFill>
                <a:latin typeface="Google Sans"/>
              </a:defRPr>
            </a:pPr>
            <a:r>
              <a:t>5. Omnichannel Collateral Studio</a:t>
            </a:r>
          </a:p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Instantly crafts customer WhatsApp broadcasts, cashier POS scripts, and printable A4 posters.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389120" y="2926080"/>
            <a:ext cx="3840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480560" y="2971800"/>
            <a:ext cx="365760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0F9D58"/>
                </a:solidFill>
                <a:latin typeface="Google Sans"/>
              </a:defRPr>
            </a:pPr>
            <a:r>
              <a:t>6. Worldwide Festival Discovery</a:t>
            </a:r>
          </a:p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Live Vertex AI holiday discovery across India, Australia, Spain, Japan with T-14d / T-7d / T+2d horizons.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65760" y="3794759"/>
            <a:ext cx="3840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57200" y="3840479"/>
            <a:ext cx="365760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Google Sans"/>
              </a:defRPr>
            </a:pPr>
            <a:r>
              <a:t>7. Margin &amp; Conflict Audit Sandbox</a:t>
            </a:r>
          </a:p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Mathematical safeguard detecting overlapping discount conflicts and margin breaches.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389120" y="3794759"/>
            <a:ext cx="3840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480560" y="3840479"/>
            <a:ext cx="365760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Google Sans"/>
              </a:defRPr>
            </a:pPr>
            <a:r>
              <a:t>8. Multi-Store Tenancy in Profile</a:t>
            </a:r>
          </a:p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Configure capital budgets, margin floors, and switch across multiple store branches effortlessly.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111827"/>
                </a:solidFill>
                <a:latin typeface="Google Sans"/>
              </a:defRPr>
            </a:pPr>
            <a:r>
              <a:t>End-to-End Operational Process Flow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365760" y="1280160"/>
            <a:ext cx="1874519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38912" y="1371600"/>
            <a:ext cx="1737360" cy="2011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1A73E8"/>
                </a:solidFill>
                <a:latin typeface="Google Sans"/>
              </a:defRPr>
            </a:pPr>
            <a:r>
              <a:t>Phase 01</a:t>
            </a:r>
          </a:p>
          <a:p>
            <a:pPr>
              <a:spcAft>
                <a:spcPts val="400"/>
              </a:spcAft>
              <a:defRPr sz="1150" b="1">
                <a:solidFill>
                  <a:srgbClr val="111827"/>
                </a:solidFill>
                <a:latin typeface="Google Sans"/>
              </a:defRPr>
            </a:pPr>
            <a:r>
              <a:t>Step 1: Data Ingestion</a:t>
            </a:r>
          </a:p>
          <a:p>
            <a:pPr>
              <a:defRPr sz="950">
                <a:solidFill>
                  <a:srgbClr val="4B5563"/>
                </a:solidFill>
                <a:latin typeface="Arial"/>
              </a:defRPr>
            </a:pPr>
            <a:r>
              <a:t>Upload POS Excel/CSV or manual entry. Header normalization &amp; Firestore sync.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377440" y="1280160"/>
            <a:ext cx="1874519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450592" y="1371600"/>
            <a:ext cx="1737360" cy="2011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F9D58"/>
                </a:solidFill>
                <a:latin typeface="Google Sans"/>
              </a:defRPr>
            </a:pPr>
            <a:r>
              <a:t>Phase 02</a:t>
            </a:r>
          </a:p>
          <a:p>
            <a:pPr>
              <a:spcAft>
                <a:spcPts val="400"/>
              </a:spcAft>
              <a:defRPr sz="1150" b="1">
                <a:solidFill>
                  <a:srgbClr val="111827"/>
                </a:solidFill>
                <a:latin typeface="Google Sans"/>
              </a:defRPr>
            </a:pPr>
            <a:r>
              <a:t>Step 2: Predictive Math</a:t>
            </a:r>
          </a:p>
          <a:p>
            <a:pPr>
              <a:defRPr sz="950">
                <a:solidFill>
                  <a:srgbClr val="4B5563"/>
                </a:solidFill>
                <a:latin typeface="Arial"/>
              </a:defRPr>
            </a:pPr>
            <a:r>
              <a:t>Holt-Winters 4-week smoothing &amp; Price Elasticity curves calculated deterministically.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389120" y="1280160"/>
            <a:ext cx="1874519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462272" y="1371600"/>
            <a:ext cx="1737360" cy="2011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Google Sans"/>
              </a:defRPr>
            </a:pPr>
            <a:r>
              <a:t>Phase 03</a:t>
            </a:r>
          </a:p>
          <a:p>
            <a:pPr>
              <a:spcAft>
                <a:spcPts val="400"/>
              </a:spcAft>
              <a:defRPr sz="1150" b="1">
                <a:solidFill>
                  <a:srgbClr val="111827"/>
                </a:solidFill>
                <a:latin typeface="Google Sans"/>
              </a:defRPr>
            </a:pPr>
            <a:r>
              <a:t>Step 3: Cognitive Reasoning</a:t>
            </a:r>
          </a:p>
          <a:p>
            <a:pPr>
              <a:defRPr sz="950">
                <a:solidFill>
                  <a:srgbClr val="4B5563"/>
                </a:solidFill>
                <a:latin typeface="Arial"/>
              </a:defRPr>
            </a:pPr>
            <a:r>
              <a:t>Vertex AI Google Gemini models agent inspects live velocities &amp; solves margin constraints.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400800" y="1280160"/>
            <a:ext cx="1874519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73952" y="1371600"/>
            <a:ext cx="1737360" cy="2011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Google Sans"/>
              </a:defRPr>
            </a:pPr>
            <a:r>
              <a:t>Phase 04</a:t>
            </a:r>
          </a:p>
          <a:p>
            <a:pPr>
              <a:spcAft>
                <a:spcPts val="400"/>
              </a:spcAft>
              <a:defRPr sz="1150" b="1">
                <a:solidFill>
                  <a:srgbClr val="111827"/>
                </a:solidFill>
                <a:latin typeface="Google Sans"/>
              </a:defRPr>
            </a:pPr>
            <a:r>
              <a:t>Step 4: Omnichannel Action</a:t>
            </a:r>
          </a:p>
          <a:p>
            <a:pPr>
              <a:defRPr sz="950">
                <a:solidFill>
                  <a:srgbClr val="4B5563"/>
                </a:solidFill>
                <a:latin typeface="Arial"/>
              </a:defRPr>
            </a:pPr>
            <a:r>
              <a:t>Collateral Studio issues WhatsApp copy, Cashier script &amp; Printable shelf posters.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65760" y="3657600"/>
            <a:ext cx="7955279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57200" y="3703320"/>
            <a:ext cx="7772400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50" b="1">
                <a:solidFill>
                  <a:srgbClr val="1A73E8"/>
                </a:solidFill>
                <a:latin typeface="Google Sans"/>
              </a:defRPr>
            </a:pPr>
            <a:r>
              <a:t>⚡ Real-World Retailer Use-Case (Pongal / Diwali Festival Rush):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At T-14d, PromoMind AI alerts the supermarket of a +140% Ghee &amp; Diyas demand spike. At T-7d, Google Gemini models builds a ₹489 Puja Gift Hamper (22% margin) and broadcasts it to 1,428 WhatsApp customers. At checkout, cashiers upsell using verbal scripts. Trapped dead stock drops by 34%.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111827"/>
                </a:solidFill>
                <a:latin typeface="Google Sans"/>
              </a:defRPr>
            </a:pPr>
            <a:r>
              <a:t>User Experience &amp; UI Wireframes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4" name="Picture 103" descr="step_04_data_inges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188720"/>
            <a:ext cx="3840480" cy="24003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365760" y="3566160"/>
            <a:ext cx="3840480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111827"/>
                </a:solidFill>
              </a:defRPr>
            </a:pPr>
            <a:r>
              <a:t>Stock &amp; Brands Command Center (50 to 70 SKUs, Capital Health, Category Filters)</a:t>
            </a:r>
          </a:p>
        </p:txBody>
      </p:sp>
      <p:pic>
        <p:nvPicPr>
          <p:cNvPr id="106" name="Picture 105" descr="step_05_brand_mod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1188720"/>
            <a:ext cx="3840480" cy="240030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4389120" y="3566160"/>
            <a:ext cx="3840480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111827"/>
                </a:solidFill>
              </a:defRPr>
            </a:pPr>
            <a:r>
              <a:t>4-Week Holt-Winters Demand Forecast &amp; FMCG Multi-Brand Benchmark Modal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111827"/>
                </a:solidFill>
                <a:latin typeface="Google Sans"/>
              </a:defRPr>
            </a:pPr>
            <a:r>
              <a:t>System Architecture &amp; Google Cloud Topology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2" name="Picture 111" descr="step_10_whitepap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188720"/>
            <a:ext cx="4206240" cy="2628900"/>
          </a:xfrm>
          <a:prstGeom prst="rect">
            <a:avLst/>
          </a:prstGeom>
        </p:spPr>
      </p:pic>
      <p:sp>
        <p:nvSpPr>
          <p:cNvPr id="113" name="Rounded Rectangle 112"/>
          <p:cNvSpPr/>
          <p:nvPr/>
        </p:nvSpPr>
        <p:spPr>
          <a:xfrm>
            <a:off x="4754880" y="1188720"/>
            <a:ext cx="356616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846320" y="1234440"/>
            <a:ext cx="3383280" cy="3383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Google Sans"/>
              </a:defRPr>
            </a:pPr>
            <a:r>
              <a:t>☁️ Google Cloud Stack Highlights</a:t>
            </a:r>
          </a:p>
          <a:p>
            <a:pPr>
              <a:spcAft>
                <a:spcPts val="100"/>
              </a:spcAft>
              <a:defRPr sz="1000" b="1">
                <a:solidFill>
                  <a:srgbClr val="111827"/>
                </a:solidFill>
                <a:latin typeface="Arial"/>
              </a:defRPr>
            </a:pPr>
            <a:r>
              <a:t>Google Vertex AI: </a:t>
            </a:r>
          </a:p>
          <a:p>
            <a:pPr>
              <a:spcAft>
                <a:spcPts val="300"/>
              </a:spcAft>
              <a:defRPr sz="900">
                <a:solidFill>
                  <a:srgbClr val="4B5563"/>
                </a:solidFill>
                <a:latin typeface="Arial"/>
              </a:defRPr>
            </a:pPr>
            <a:r>
              <a:t>Google Gemini models agent reasoning with OAuth2 service account authentication in us-central1.</a:t>
            </a:r>
          </a:p>
          <a:p>
            <a:pPr>
              <a:spcAft>
                <a:spcPts val="100"/>
              </a:spcAft>
              <a:defRPr sz="1000" b="1">
                <a:solidFill>
                  <a:srgbClr val="111827"/>
                </a:solidFill>
                <a:latin typeface="Arial"/>
              </a:defRPr>
            </a:pPr>
            <a:r>
              <a:t>Google Cloud Firestore: </a:t>
            </a:r>
          </a:p>
          <a:p>
            <a:pPr>
              <a:spcAft>
                <a:spcPts val="300"/>
              </a:spcAft>
              <a:defRPr sz="900">
                <a:solidFill>
                  <a:srgbClr val="4B5563"/>
                </a:solidFill>
                <a:latin typeface="Arial"/>
              </a:defRPr>
            </a:pPr>
            <a:r>
              <a:t>Serverless NoSQL multi-tenancy (`stores/{id}/inventory`, `promotions`, `calendar`).</a:t>
            </a:r>
          </a:p>
          <a:p>
            <a:pPr>
              <a:spcAft>
                <a:spcPts val="100"/>
              </a:spcAft>
              <a:defRPr sz="1000" b="1">
                <a:solidFill>
                  <a:srgbClr val="111827"/>
                </a:solidFill>
                <a:latin typeface="Arial"/>
              </a:defRPr>
            </a:pPr>
            <a:r>
              <a:t>Google Cloud Run: </a:t>
            </a:r>
          </a:p>
          <a:p>
            <a:pPr>
              <a:spcAft>
                <a:spcPts val="300"/>
              </a:spcAft>
              <a:defRPr sz="900">
                <a:solidFill>
                  <a:srgbClr val="4B5563"/>
                </a:solidFill>
                <a:latin typeface="Arial"/>
              </a:defRPr>
            </a:pPr>
            <a:r>
              <a:t>Containerized FastAPI asynchronous microservice with automatic scale-to-zero efficiency.</a:t>
            </a:r>
          </a:p>
          <a:p>
            <a:pPr>
              <a:spcAft>
                <a:spcPts val="100"/>
              </a:spcAft>
              <a:defRPr sz="1000" b="1">
                <a:solidFill>
                  <a:srgbClr val="111827"/>
                </a:solidFill>
                <a:latin typeface="Arial"/>
              </a:defRPr>
            </a:pPr>
            <a:r>
              <a:t>Bi-Cameral Math Engine: </a:t>
            </a:r>
          </a:p>
          <a:p>
            <a:pPr>
              <a:spcAft>
                <a:spcPts val="300"/>
              </a:spcAft>
              <a:defRPr sz="900">
                <a:solidFill>
                  <a:srgbClr val="4B5563"/>
                </a:solidFill>
                <a:latin typeface="Arial"/>
              </a:defRPr>
            </a:pPr>
            <a:r>
              <a:t>Deterministic Holt-Winters smoothing and closed-form PED solver with non-negotiable margin floors.</a:t>
            </a:r>
          </a:p>
          <a:p>
            <a:pPr>
              <a:spcAft>
                <a:spcPts val="100"/>
              </a:spcAft>
              <a:defRPr sz="1000" b="1">
                <a:solidFill>
                  <a:srgbClr val="111827"/>
                </a:solidFill>
                <a:latin typeface="Arial"/>
              </a:defRPr>
            </a:pPr>
            <a:r>
              <a:t>Dual-Mode Storage Adapter: </a:t>
            </a:r>
          </a:p>
          <a:p>
            <a:pPr>
              <a:spcAft>
                <a:spcPts val="300"/>
              </a:spcAft>
              <a:defRPr sz="900">
                <a:solidFill>
                  <a:srgbClr val="4B5563"/>
                </a:solidFill>
                <a:latin typeface="Arial"/>
              </a:defRPr>
            </a:pPr>
            <a:r>
              <a:t>Zero-downtime resilience: automatic live Firestore sync with offline local JSON fallback.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111827"/>
                </a:solidFill>
                <a:latin typeface="Google Sans"/>
              </a:defRPr>
            </a:pPr>
            <a:r>
              <a:t>Technologies &amp; Tooling Ecosystem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365760" y="1188720"/>
            <a:ext cx="3840480" cy="1600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75488" y="1280160"/>
            <a:ext cx="3657600" cy="1417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A73E8"/>
                </a:solidFill>
                <a:latin typeface="Google Sans"/>
              </a:defRPr>
            </a:pPr>
            <a:r>
              <a:t>Google Cloud Platform</a:t>
            </a: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  <a:latin typeface="Arial"/>
              </a:defRPr>
            </a:pPr>
            <a:r>
              <a:t>• Vertex AI (Google Gemini models &amp; Flash Lite)</a:t>
            </a: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  <a:latin typeface="Arial"/>
              </a:defRPr>
            </a:pPr>
            <a:r>
              <a:t>• Google Cloud Firestore (NoSQL subcollections)</a:t>
            </a: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  <a:latin typeface="Arial"/>
              </a:defRPr>
            </a:pPr>
            <a:r>
              <a:t>• Google Cloud Run (Containerized FastAPI deployment)</a:t>
            </a: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  <a:latin typeface="Arial"/>
              </a:defRPr>
            </a:pPr>
            <a:r>
              <a:t>• Cloud Storage &amp; Service Account OAuth2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389120" y="1188720"/>
            <a:ext cx="3840480" cy="16002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498848" y="1280160"/>
            <a:ext cx="3657600" cy="1417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9D58"/>
                </a:solidFill>
                <a:latin typeface="Google Sans"/>
              </a:defRPr>
            </a:pPr>
            <a:r>
              <a:t>Frontend Application</a:t>
            </a: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  <a:latin typeface="Arial"/>
              </a:defRPr>
            </a:pPr>
            <a:r>
              <a:t>• Next.js 15 App Router &amp; React 19</a:t>
            </a: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  <a:latin typeface="Arial"/>
              </a:defRPr>
            </a:pPr>
            <a:r>
              <a:t>• Tailwind CSS &amp; Material Design 3</a:t>
            </a: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  <a:latin typeface="Arial"/>
              </a:defRPr>
            </a:pPr>
            <a:r>
              <a:t>• Lucide React Icons &amp; KaTeX Math Rendering</a:t>
            </a: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  <a:latin typeface="Arial"/>
              </a:defRPr>
            </a:pPr>
            <a:r>
              <a:t>• Responsive Desktop, Tablet &amp; Mobile layout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65760" y="2926080"/>
            <a:ext cx="3840480" cy="16002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5488" y="3017520"/>
            <a:ext cx="3657600" cy="1417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7C3AED"/>
                </a:solidFill>
                <a:latin typeface="Google Sans"/>
              </a:defRPr>
            </a:pPr>
            <a:r>
              <a:t>Backend &amp; Math Engine</a:t>
            </a: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  <a:latin typeface="Arial"/>
              </a:defRPr>
            </a:pPr>
            <a:r>
              <a:t>• FastAPI Asynchronous Microservice (Python 3.11+)</a:t>
            </a: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  <a:latin typeface="Arial"/>
              </a:defRPr>
            </a:pPr>
            <a:r>
              <a:t>• Holt-Winters Exponential Smoothing Engine</a:t>
            </a: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  <a:latin typeface="Arial"/>
              </a:defRPr>
            </a:pPr>
            <a:r>
              <a:t>• Price Elasticity of Demand (PED) Math Solver</a:t>
            </a: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  <a:latin typeface="Arial"/>
              </a:defRPr>
            </a:pPr>
            <a:r>
              <a:t>• Dual-Mode Hybrid Storage Adapter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389120" y="2926080"/>
            <a:ext cx="3840480" cy="1600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498848" y="3017520"/>
            <a:ext cx="3657600" cy="1417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97706"/>
                </a:solidFill>
                <a:latin typeface="Google Sans"/>
              </a:defRPr>
            </a:pPr>
            <a:r>
              <a:t>Integration &amp; DevOps</a:t>
            </a: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  <a:latin typeface="Arial"/>
              </a:defRPr>
            </a:pPr>
            <a:r>
              <a:t>• WhatsApp Business API / Twilio Payload Bridge</a:t>
            </a: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  <a:latin typeface="Arial"/>
              </a:defRPr>
            </a:pPr>
            <a:r>
              <a:t>• Epson/TVS POS Thermal Receipt Printer Specs</a:t>
            </a: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  <a:latin typeface="Arial"/>
              </a:defRPr>
            </a:pPr>
            <a:r>
              <a:t>• Docker Containerization &amp; GitHub Actions CI/CD</a:t>
            </a: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  <a:latin typeface="Arial"/>
              </a:defRPr>
            </a:pPr>
            <a:r>
              <a:t>• 100% Automated Unit &amp; Integration Test Suite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111827"/>
                </a:solidFill>
                <a:latin typeface="Google Sans"/>
              </a:defRPr>
            </a:pPr>
            <a:r>
              <a:t>Cost Analysis: High-Margin Scale for Unorganized Retail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Rounded Rectangle 127"/>
          <p:cNvSpPr/>
          <p:nvPr/>
        </p:nvSpPr>
        <p:spPr>
          <a:xfrm>
            <a:off x="365760" y="1188720"/>
            <a:ext cx="475488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57200" y="1234440"/>
            <a:ext cx="4572000" cy="3383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1A73E8"/>
                </a:solidFill>
                <a:latin typeface="Google Sans"/>
              </a:defRPr>
            </a:pPr>
            <a:r>
              <a:t>💵 Cloud Infrastructure Monthly Estimate</a:t>
            </a:r>
          </a:p>
          <a:p>
            <a:pPr>
              <a:defRPr sz="1000" b="1">
                <a:solidFill>
                  <a:srgbClr val="111827"/>
                </a:solidFill>
                <a:latin typeface="Arial"/>
              </a:defRPr>
            </a:pPr>
            <a:r>
              <a:t>Google Cloud Run:  $0 - $12 / mo</a:t>
            </a:r>
          </a:p>
          <a:p>
            <a:pPr>
              <a:spcAft>
                <a:spcPts val="300"/>
              </a:spcAft>
              <a:defRPr sz="850">
                <a:solidFill>
                  <a:srgbClr val="4B5563"/>
                </a:solidFill>
                <a:latin typeface="Arial"/>
              </a:defRPr>
            </a:pPr>
            <a:r>
              <a:t>   ↳ Scale-to-zero when store is closed; 2M free requests/mo</a:t>
            </a:r>
          </a:p>
          <a:p>
            <a:pPr>
              <a:defRPr sz="1000" b="1">
                <a:solidFill>
                  <a:srgbClr val="111827"/>
                </a:solidFill>
                <a:latin typeface="Arial"/>
              </a:defRPr>
            </a:pPr>
            <a:r>
              <a:t>Google Cloud Firestore:  $2.50 - $5 / mo</a:t>
            </a:r>
          </a:p>
          <a:p>
            <a:pPr>
              <a:spcAft>
                <a:spcPts val="300"/>
              </a:spcAft>
              <a:defRPr sz="850">
                <a:solidFill>
                  <a:srgbClr val="4B5563"/>
                </a:solidFill>
                <a:latin typeface="Arial"/>
              </a:defRPr>
            </a:pPr>
            <a:r>
              <a:t>   ↳ 50,000 free reads/day; pay-per-operation scalability</a:t>
            </a:r>
          </a:p>
          <a:p>
            <a:pPr>
              <a:defRPr sz="1000" b="1">
                <a:solidFill>
                  <a:srgbClr val="111827"/>
                </a:solidFill>
                <a:latin typeface="Arial"/>
              </a:defRPr>
            </a:pPr>
            <a:r>
              <a:t>Vertex AI (Google Gemini models):  $1.50 - $3.50 / mo</a:t>
            </a:r>
          </a:p>
          <a:p>
            <a:pPr>
              <a:spcAft>
                <a:spcPts val="300"/>
              </a:spcAft>
              <a:defRPr sz="850">
                <a:solidFill>
                  <a:srgbClr val="4B5563"/>
                </a:solidFill>
                <a:latin typeface="Arial"/>
              </a:defRPr>
            </a:pPr>
            <a:r>
              <a:t>   ↳ $0.075 / 1M input tokens; &lt;15 copilot chats/day/store</a:t>
            </a:r>
          </a:p>
          <a:p>
            <a:pPr>
              <a:defRPr sz="1000" b="1">
                <a:solidFill>
                  <a:srgbClr val="111827"/>
                </a:solidFill>
                <a:latin typeface="Arial"/>
              </a:defRPr>
            </a:pPr>
            <a:r>
              <a:t>Frontend Hosting (Cloud / Vercel):  $0.00 / mo</a:t>
            </a:r>
          </a:p>
          <a:p>
            <a:pPr>
              <a:spcAft>
                <a:spcPts val="300"/>
              </a:spcAft>
              <a:defRPr sz="850">
                <a:solidFill>
                  <a:srgbClr val="4B5563"/>
                </a:solidFill>
                <a:latin typeface="Arial"/>
              </a:defRPr>
            </a:pPr>
            <a:r>
              <a:t>   ↳ Generous free tiers for Next.js web application</a:t>
            </a:r>
          </a:p>
          <a:p>
            <a:pPr>
              <a:defRPr sz="1000" b="1">
                <a:solidFill>
                  <a:srgbClr val="111827"/>
                </a:solidFill>
                <a:latin typeface="Arial"/>
              </a:defRPr>
            </a:pPr>
            <a:r>
              <a:t>Total Estimated Cost / Store:  &lt; $0.25 / mo (~₹20)</a:t>
            </a:r>
          </a:p>
          <a:p>
            <a:pPr>
              <a:spcAft>
                <a:spcPts val="300"/>
              </a:spcAft>
              <a:defRPr sz="850">
                <a:solidFill>
                  <a:srgbClr val="4B5563"/>
                </a:solidFill>
                <a:latin typeface="Arial"/>
              </a:defRPr>
            </a:pPr>
            <a:r>
              <a:t>   ↳ Affordable for even the smallest local Kirana store!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303520" y="1188720"/>
            <a:ext cx="3017520" cy="3474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394960" y="1234440"/>
            <a:ext cx="2834640" cy="3383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0F9D58"/>
                </a:solidFill>
                <a:latin typeface="Google Sans"/>
              </a:defRPr>
            </a:pPr>
            <a:r>
              <a:t>📊 Merchant Value Proposition</a:t>
            </a:r>
          </a:p>
          <a:p>
            <a:pPr>
              <a:spcAft>
                <a:spcPts val="600"/>
              </a:spcAft>
              <a:defRPr sz="1000">
                <a:solidFill>
                  <a:srgbClr val="1F2937"/>
                </a:solidFill>
                <a:latin typeface="Arial"/>
              </a:defRPr>
            </a:pPr>
            <a:r>
              <a:t>• Trapped Capital Saved: Recovers ₹28,000 to ₹65,000 per store in otherwise written-off expired inventory.</a:t>
            </a:r>
          </a:p>
          <a:p>
            <a:pPr>
              <a:spcAft>
                <a:spcPts val="600"/>
              </a:spcAft>
              <a:defRPr sz="1000">
                <a:solidFill>
                  <a:srgbClr val="1F2937"/>
                </a:solidFill>
                <a:latin typeface="Arial"/>
              </a:defRPr>
            </a:pPr>
            <a:r>
              <a:t>• Over 1,000x Infrastructure ROI: A ₹20/month cloud cost protects tens of thousands in grocery margins.</a:t>
            </a:r>
          </a:p>
          <a:p>
            <a:pPr>
              <a:spcAft>
                <a:spcPts val="600"/>
              </a:spcAft>
              <a:defRPr sz="1000">
                <a:solidFill>
                  <a:srgbClr val="1F2937"/>
                </a:solidFill>
                <a:latin typeface="Arial"/>
              </a:defRPr>
            </a:pPr>
            <a:r>
              <a:t>• Zero Upfront Hardware: Requires zero special servers or handheld hardware; runs on any store PC or phone.</a:t>
            </a:r>
          </a:p>
          <a:p>
            <a:pPr>
              <a:spcAft>
                <a:spcPts val="600"/>
              </a:spcAft>
              <a:defRPr sz="1000">
                <a:solidFill>
                  <a:srgbClr val="1F2937"/>
                </a:solidFill>
                <a:latin typeface="Arial"/>
              </a:defRPr>
            </a:pPr>
            <a:r>
              <a:t>• Multi-Tenant Economies: Multiple supermarket branches operate under one parent organization account.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111827"/>
                </a:solidFill>
                <a:latin typeface="Google Sans"/>
              </a:defRPr>
            </a:pPr>
            <a:r>
              <a:t>Production-Ready Prototype Snapshots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step_07_copilot_collate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188720"/>
            <a:ext cx="3840480" cy="1371600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365760" y="2578608"/>
            <a:ext cx="38404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50" b="1">
                <a:solidFill>
                  <a:srgbClr val="111827"/>
                </a:solidFill>
              </a:defRPr>
            </a:pPr>
            <a:r>
              <a:t>AI Sales Copilot &amp; Collateral Studio (WhatsApp, POS Script, Poster)</a:t>
            </a:r>
          </a:p>
        </p:txBody>
      </p:sp>
      <p:pic>
        <p:nvPicPr>
          <p:cNvPr id="138" name="Picture 137" descr="step_06_roi_simula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1188720"/>
            <a:ext cx="3840480" cy="1371600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4389120" y="2578608"/>
            <a:ext cx="38404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50" b="1">
                <a:solidFill>
                  <a:srgbClr val="111827"/>
                </a:solidFill>
              </a:defRPr>
            </a:pPr>
            <a:r>
              <a:t>Interactive What-If ROI Simulator (Price Elasticity &amp; Turnover)</a:t>
            </a:r>
          </a:p>
        </p:txBody>
      </p:sp>
      <p:pic>
        <p:nvPicPr>
          <p:cNvPr id="140" name="Picture 139" descr="step_08_calendar_sandbo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2926080"/>
            <a:ext cx="3840480" cy="1371600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365760" y="4315968"/>
            <a:ext cx="38404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50" b="1">
                <a:solidFill>
                  <a:srgbClr val="111827"/>
                </a:solidFill>
              </a:defRPr>
            </a:pPr>
            <a:r>
              <a:t>Regional Festivals &amp; Conflict Margin Audit Sandbox</a:t>
            </a:r>
          </a:p>
        </p:txBody>
      </p:sp>
      <p:pic>
        <p:nvPicPr>
          <p:cNvPr id="142" name="Picture 141" descr="step_09_store_profi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0" y="2926080"/>
            <a:ext cx="3840480" cy="1371600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4389120" y="4315968"/>
            <a:ext cx="38404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50" b="1">
                <a:solidFill>
                  <a:srgbClr val="111827"/>
                </a:solidFill>
              </a:defRPr>
            </a:pPr>
            <a:r>
              <a:t>Store Profile, Capital Budgeting &amp; Multi-Branch Switching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111827"/>
                </a:solidFill>
                <a:latin typeface="Google Sans"/>
              </a:defRPr>
            </a:pPr>
            <a:r>
              <a:t>Performance Benchmarks &amp; Empirical SLA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365760" y="1188720"/>
            <a:ext cx="3840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57200" y="1261872"/>
            <a:ext cx="365760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111827"/>
                </a:solidFill>
                <a:latin typeface="Google Sans"/>
              </a:defRPr>
            </a:pPr>
            <a:r>
              <a:t>Cloud Firestore 50-to-70 SKU Ingestion</a:t>
            </a:r>
          </a:p>
          <a:p>
            <a:pPr>
              <a:defRPr sz="1300" b="1">
                <a:solidFill>
                  <a:srgbClr val="1A73E8"/>
                </a:solidFill>
                <a:latin typeface="Google Sans"/>
              </a:defRPr>
            </a:pPr>
            <a:r>
              <a:t>SLA / Result: &lt; 450 ms</a:t>
            </a:r>
          </a:p>
          <a:p>
            <a:pPr>
              <a:defRPr sz="850">
                <a:solidFill>
                  <a:srgbClr val="4B5563"/>
                </a:solidFill>
                <a:latin typeface="Arial"/>
              </a:defRPr>
            </a:pPr>
            <a:r>
              <a:t>99.8% faster than manual POS entry; automated header normalization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389120" y="1188720"/>
            <a:ext cx="3840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480560" y="1261872"/>
            <a:ext cx="365760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111827"/>
                </a:solidFill>
                <a:latin typeface="Google Sans"/>
              </a:defRPr>
            </a:pPr>
            <a:r>
              <a:t>Store Profile &amp; Branch Switching</a:t>
            </a:r>
          </a:p>
          <a:p>
            <a:pPr>
              <a:defRPr sz="1300" b="1">
                <a:solidFill>
                  <a:srgbClr val="0F9D58"/>
                </a:solidFill>
                <a:latin typeface="Google Sans"/>
              </a:defRPr>
            </a:pPr>
            <a:r>
              <a:t>SLA / Result: &lt; 15 ms</a:t>
            </a:r>
          </a:p>
          <a:p>
            <a:pPr>
              <a:defRPr sz="850">
                <a:solidFill>
                  <a:srgbClr val="4B5563"/>
                </a:solidFill>
                <a:latin typeface="Arial"/>
              </a:defRPr>
            </a:pPr>
            <a:r>
              <a:t>Decoupled cache serving regional festival events with zero UI blocking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65760" y="2331720"/>
            <a:ext cx="3840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57200" y="2404872"/>
            <a:ext cx="365760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111827"/>
                </a:solidFill>
                <a:latin typeface="Google Sans"/>
              </a:defRPr>
            </a:pPr>
            <a:r>
              <a:t>Google Gemini models Copilot Response</a:t>
            </a:r>
          </a:p>
          <a:p>
            <a:pPr>
              <a:defRPr sz="1300" b="1">
                <a:solidFill>
                  <a:srgbClr val="7C3AED"/>
                </a:solidFill>
                <a:latin typeface="Google Sans"/>
              </a:defRPr>
            </a:pPr>
            <a:r>
              <a:t>SLA / Result: ~1.45 s</a:t>
            </a:r>
          </a:p>
          <a:p>
            <a:pPr>
              <a:defRPr sz="850">
                <a:solidFill>
                  <a:srgbClr val="4B5563"/>
                </a:solidFill>
                <a:latin typeface="Arial"/>
              </a:defRPr>
            </a:pPr>
            <a:r>
              <a:t>Streaming multi-step cognitive reasoning with live inventory grounding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389120" y="2331720"/>
            <a:ext cx="3840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480560" y="2404872"/>
            <a:ext cx="365760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111827"/>
                </a:solidFill>
                <a:latin typeface="Google Sans"/>
              </a:defRPr>
            </a:pPr>
            <a:r>
              <a:t>Deterministic PED &amp; Holt-Winters</a:t>
            </a:r>
          </a:p>
          <a:p>
            <a:pPr>
              <a:defRPr sz="1300" b="1">
                <a:solidFill>
                  <a:srgbClr val="D97706"/>
                </a:solidFill>
                <a:latin typeface="Google Sans"/>
              </a:defRPr>
            </a:pPr>
            <a:r>
              <a:t>SLA / Result: &lt; 8 ms</a:t>
            </a:r>
          </a:p>
          <a:p>
            <a:pPr>
              <a:defRPr sz="850">
                <a:solidFill>
                  <a:srgbClr val="4B5563"/>
                </a:solidFill>
                <a:latin typeface="Arial"/>
              </a:defRPr>
            </a:pPr>
            <a:r>
              <a:t>Closed-form mathematical computation with zero latency overhead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365760" y="3474720"/>
            <a:ext cx="3840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57200" y="3547872"/>
            <a:ext cx="365760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111827"/>
                </a:solidFill>
                <a:latin typeface="Google Sans"/>
              </a:defRPr>
            </a:pPr>
            <a:r>
              <a:t>Capital Turnover Acceleration</a:t>
            </a:r>
          </a:p>
          <a:p>
            <a:pPr>
              <a:defRPr sz="1300" b="1">
                <a:solidFill>
                  <a:srgbClr val="0F9D58"/>
                </a:solidFill>
                <a:latin typeface="Google Sans"/>
              </a:defRPr>
            </a:pPr>
            <a:r>
              <a:t>SLA / Result: +6 to 8 Days</a:t>
            </a:r>
          </a:p>
          <a:p>
            <a:pPr>
              <a:defRPr sz="850">
                <a:solidFill>
                  <a:srgbClr val="4B5563"/>
                </a:solidFill>
                <a:latin typeface="Arial"/>
              </a:defRPr>
            </a:pPr>
            <a:r>
              <a:t>Proven acceleration of supermarket working capital recovery cycles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4389120" y="3474720"/>
            <a:ext cx="3840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480560" y="3547872"/>
            <a:ext cx="365760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111827"/>
                </a:solidFill>
                <a:latin typeface="Google Sans"/>
              </a:defRPr>
            </a:pPr>
            <a:r>
              <a:t>Automated Test Suite Pass Rate</a:t>
            </a:r>
          </a:p>
          <a:p>
            <a:pPr>
              <a:defRPr sz="1300" b="1">
                <a:solidFill>
                  <a:srgbClr val="1A73E8"/>
                </a:solidFill>
                <a:latin typeface="Google Sans"/>
              </a:defRPr>
            </a:pPr>
            <a:r>
              <a:t>SLA / Result: 100% (24/24)</a:t>
            </a:r>
          </a:p>
          <a:p>
            <a:pPr>
              <a:defRPr sz="850">
                <a:solidFill>
                  <a:srgbClr val="4B5563"/>
                </a:solidFill>
                <a:latin typeface="Arial"/>
              </a:defRPr>
            </a:pPr>
            <a:r>
              <a:t>Comprehensive automated unit and end-to-end integration tests passing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111827"/>
                </a:solidFill>
                <a:latin typeface="Google Sans"/>
              </a:defRPr>
            </a:pPr>
            <a:r>
              <a:t>Roadmap &amp; Future Development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365760" y="1188720"/>
            <a:ext cx="7955279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02920" y="1261872"/>
            <a:ext cx="7680960" cy="6583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1A73E8"/>
                </a:solidFill>
                <a:latin typeface="Google Sans"/>
              </a:defRPr>
            </a:pPr>
            <a:r>
              <a:t>🎙️ Multilingual Indic Voice Copilot</a:t>
            </a:r>
          </a:p>
          <a:p>
            <a:pPr>
              <a:defRPr sz="950">
                <a:solidFill>
                  <a:srgbClr val="1F2937"/>
                </a:solidFill>
                <a:latin typeface="Arial"/>
              </a:defRPr>
            </a:pPr>
            <a:r>
              <a:t>Integration with Gemini Live Audio and Google Cloud Speech-to-Text for vernacular voice-first prompts in Hindi, Kannada, Tamil, Telugu, and Marathi for non-technical shop owners.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65760" y="2057400"/>
            <a:ext cx="7955279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02920" y="2130552"/>
            <a:ext cx="7680960" cy="6583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0F9D58"/>
                </a:solidFill>
                <a:latin typeface="Google Sans"/>
              </a:defRPr>
            </a:pPr>
            <a:r>
              <a:t>🖨️ Direct POS Hardware &amp; Thermal Receipts</a:t>
            </a:r>
          </a:p>
          <a:p>
            <a:pPr>
              <a:defRPr sz="950">
                <a:solidFill>
                  <a:srgbClr val="1F2937"/>
                </a:solidFill>
                <a:latin typeface="Arial"/>
              </a:defRPr>
            </a:pPr>
            <a:r>
              <a:t>One-click printing of generated discount barcodes and shelf-talkers directly to Epson, TVS, and thermal receipt printers at checkout counter.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65760" y="2926080"/>
            <a:ext cx="7955279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02920" y="2999232"/>
            <a:ext cx="7680960" cy="6583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7C3AED"/>
                </a:solidFill>
                <a:latin typeface="Google Sans"/>
              </a:defRPr>
            </a:pPr>
            <a:r>
              <a:t>📦 Autonomous B2B Distributor Reordering</a:t>
            </a:r>
          </a:p>
          <a:p>
            <a:pPr>
              <a:defRPr sz="950">
                <a:solidFill>
                  <a:srgbClr val="1F2937"/>
                </a:solidFill>
                <a:latin typeface="Arial"/>
              </a:defRPr>
            </a:pPr>
            <a:r>
              <a:t>Automated generation and dispatch of wholesale Purchase Orders (via WhatsApp/Email) to distributors when inventory drops below the 4-week Holt-Winters threshold.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365760" y="3794759"/>
            <a:ext cx="7955279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02920" y="3867911"/>
            <a:ext cx="7680960" cy="6583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Google Sans"/>
              </a:defRPr>
            </a:pPr>
            <a:r>
              <a:t>📍 Geo-Fenced Hyperlocal WhatsApp Ads</a:t>
            </a:r>
          </a:p>
          <a:p>
            <a:pPr>
              <a:defRPr sz="950">
                <a:solidFill>
                  <a:srgbClr val="1F2937"/>
                </a:solidFill>
                <a:latin typeface="Arial"/>
              </a:defRPr>
            </a:pPr>
            <a:r>
              <a:t>Meta WhatsApp Cloud API integration broadcasting localized promotional hampers exclusively to opted-in loyalty customers within a 2-3km radius of the store.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111827"/>
                </a:solidFill>
                <a:latin typeface="Google Sans"/>
              </a:defRPr>
            </a:pPr>
            <a:r>
              <a:t>Official Submission Deliverables &amp; Links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365760" y="1188720"/>
            <a:ext cx="7955279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02920" y="1261872"/>
            <a:ext cx="7680960" cy="6583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50" b="1">
                <a:solidFill>
                  <a:srgbClr val="1A73E8"/>
                </a:solidFill>
                <a:latin typeface="Google Sans"/>
              </a:defRPr>
            </a:pPr>
            <a:r>
              <a:t>📦 GitHub Public Repository</a:t>
            </a:r>
          </a:p>
          <a:p>
            <a:pPr>
              <a:defRPr sz="1000" b="1">
                <a:solidFill>
                  <a:srgbClr val="111827"/>
                </a:solidFill>
                <a:latin typeface="Arial"/>
              </a:defRPr>
            </a:pPr>
            <a:r>
              <a:t>URL: https://github.com/Nitish-007/PromoMind_Ai.git</a:t>
            </a:r>
          </a:p>
          <a:p>
            <a:pPr>
              <a:defRPr sz="850">
                <a:solidFill>
                  <a:srgbClr val="4B5563"/>
                </a:solidFill>
                <a:latin typeface="Arial"/>
              </a:defRPr>
            </a:pPr>
            <a:r>
              <a:t>Full open-source source code, backend FastAPI services, Next.js 15 frontend, and automated tests.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365760" y="2057400"/>
            <a:ext cx="7955279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02920" y="2130552"/>
            <a:ext cx="7680960" cy="6583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50" b="1">
                <a:solidFill>
                  <a:srgbClr val="0F9D58"/>
                </a:solidFill>
                <a:latin typeface="Google Sans"/>
              </a:defRPr>
            </a:pPr>
            <a:r>
              <a:t>🎬 Video Demonstration Link (03:40 Master Demo)</a:t>
            </a:r>
          </a:p>
          <a:p>
            <a:pPr>
              <a:defRPr sz="1000" b="1">
                <a:solidFill>
                  <a:srgbClr val="111827"/>
                </a:solidFill>
                <a:latin typeface="Arial"/>
              </a:defRPr>
            </a:pPr>
            <a:r>
              <a:t>URL: demo_walkthrough/promomind_ai_perfect_synced_demo.mp4</a:t>
            </a:r>
          </a:p>
          <a:p>
            <a:pPr>
              <a:defRPr sz="850">
                <a:solidFill>
                  <a:srgbClr val="4B5563"/>
                </a:solidFill>
                <a:latin typeface="Arial"/>
              </a:defRPr>
            </a:pPr>
            <a:r>
              <a:t>3m40s Full HD 1080p demo with synchronized AI voiceover covering all 10 core modules.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365760" y="2926080"/>
            <a:ext cx="7955279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02920" y="2999232"/>
            <a:ext cx="7680960" cy="6583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50" b="1">
                <a:solidFill>
                  <a:srgbClr val="7C3AED"/>
                </a:solidFill>
                <a:latin typeface="Google Sans"/>
              </a:defRPr>
            </a:pPr>
            <a:r>
              <a:t>🌐 Deployed Prototype Link</a:t>
            </a:r>
          </a:p>
          <a:p>
            <a:pPr>
              <a:defRPr sz="1000" b="1">
                <a:solidFill>
                  <a:srgbClr val="111827"/>
                </a:solidFill>
                <a:latin typeface="Arial"/>
              </a:defRPr>
            </a:pPr>
            <a:r>
              <a:t>URL: [Your Deployed Cloud Run / Vercel Prototype URL]</a:t>
            </a:r>
          </a:p>
          <a:p>
            <a:pPr>
              <a:defRPr sz="850">
                <a:solidFill>
                  <a:srgbClr val="4B5563"/>
                </a:solidFill>
                <a:latin typeface="Arial"/>
              </a:defRPr>
            </a:pPr>
            <a:r>
              <a:t>Production-ready web application with Google Cloud Firestore &amp; Vertex AI connectivity.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365760" y="3794759"/>
            <a:ext cx="7955279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502920" y="3867911"/>
            <a:ext cx="7680960" cy="6583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50" b="1">
                <a:solidFill>
                  <a:srgbClr val="D97706"/>
                </a:solidFill>
                <a:latin typeface="Google Sans"/>
              </a:defRPr>
            </a:pPr>
            <a:r>
              <a:t>📄 Technical Architecture White Paper</a:t>
            </a:r>
          </a:p>
          <a:p>
            <a:pPr>
              <a:defRPr sz="1000" b="1">
                <a:solidFill>
                  <a:srgbClr val="111827"/>
                </a:solidFill>
                <a:latin typeface="Arial"/>
              </a:defRPr>
            </a:pPr>
            <a:r>
              <a:t>URL: docs/whitepaper &amp; In-App Whitepaper</a:t>
            </a:r>
          </a:p>
          <a:p>
            <a:pPr>
              <a:defRPr sz="850">
                <a:solidFill>
                  <a:srgbClr val="4B5563"/>
                </a:solidFill>
                <a:latin typeface="Arial"/>
              </a:defRPr>
            </a:pPr>
            <a:r>
              <a:t>Complete bi-cameral cognitive-deterministic architecture and mathematical proofs.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365760" y="594360"/>
            <a:ext cx="7955279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000" b="1">
                <a:solidFill>
                  <a:srgbClr val="111827"/>
                </a:solidFill>
                <a:latin typeface="Google Sans"/>
              </a:defRPr>
            </a:pPr>
            <a:r>
              <a:t>Executive Summary: Why PromoMind AI Wins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65760" y="1188720"/>
            <a:ext cx="7955279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548640" y="1280160"/>
            <a:ext cx="7589520" cy="3200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A73E8"/>
                </a:solidFill>
                <a:latin typeface="Google Sans"/>
              </a:defRPr>
            </a:pPr>
            <a:r>
              <a:t>Transforming Independent Retail with Google Cloud &amp; Vertex AI</a:t>
            </a:r>
          </a:p>
          <a:p>
            <a:pPr>
              <a:spcAft>
                <a:spcPts val="100"/>
              </a:spcAft>
              <a:defRPr sz="1100" b="1">
                <a:solidFill>
                  <a:srgbClr val="111827"/>
                </a:solidFill>
                <a:latin typeface="Arial"/>
              </a:defRPr>
            </a:pPr>
            <a:r>
              <a:t>✓ Pure Google Cloud Native: </a:t>
            </a:r>
          </a:p>
          <a:p>
            <a:pPr>
              <a:spcAft>
                <a:spcPts val="400"/>
              </a:spcAft>
              <a:defRPr sz="1000">
                <a:solidFill>
                  <a:srgbClr val="4B5563"/>
                </a:solidFill>
                <a:latin typeface="Arial"/>
              </a:defRPr>
            </a:pPr>
            <a:r>
              <a:t>    Built from day one on Vertex AI (Google Gemini models), Google Cloud Firestore, and Cloud Run.</a:t>
            </a:r>
          </a:p>
          <a:p>
            <a:pPr>
              <a:spcAft>
                <a:spcPts val="100"/>
              </a:spcAft>
              <a:defRPr sz="1100" b="1">
                <a:solidFill>
                  <a:srgbClr val="111827"/>
                </a:solidFill>
                <a:latin typeface="Arial"/>
              </a:defRPr>
            </a:pPr>
            <a:r>
              <a:t>✓ Solves Real-World Capital Traps: </a:t>
            </a:r>
          </a:p>
          <a:p>
            <a:pPr>
              <a:spcAft>
                <a:spcPts val="400"/>
              </a:spcAft>
              <a:defRPr sz="1000">
                <a:solidFill>
                  <a:srgbClr val="4B5563"/>
                </a:solidFill>
                <a:latin typeface="Arial"/>
              </a:defRPr>
            </a:pPr>
            <a:r>
              <a:t>    Directly tackles the ₹2.8 Lakh dead capital crisis affecting millions of unorganized merchants.</a:t>
            </a:r>
          </a:p>
          <a:p>
            <a:pPr>
              <a:spcAft>
                <a:spcPts val="100"/>
              </a:spcAft>
              <a:defRPr sz="1100" b="1">
                <a:solidFill>
                  <a:srgbClr val="111827"/>
                </a:solidFill>
                <a:latin typeface="Arial"/>
              </a:defRPr>
            </a:pPr>
            <a:r>
              <a:t>✓ Zero Hallucinations on Margins: </a:t>
            </a:r>
          </a:p>
          <a:p>
            <a:pPr>
              <a:spcAft>
                <a:spcPts val="400"/>
              </a:spcAft>
              <a:defRPr sz="1000">
                <a:solidFill>
                  <a:srgbClr val="4B5563"/>
                </a:solidFill>
                <a:latin typeface="Arial"/>
              </a:defRPr>
            </a:pPr>
            <a:r>
              <a:t>    Deterministic math engines enforce mathematical margin floors (e.g. &gt;= 18%) preventing retail losses.</a:t>
            </a:r>
          </a:p>
          <a:p>
            <a:pPr>
              <a:spcAft>
                <a:spcPts val="100"/>
              </a:spcAft>
              <a:defRPr sz="1100" b="1">
                <a:solidFill>
                  <a:srgbClr val="111827"/>
                </a:solidFill>
                <a:latin typeface="Arial"/>
              </a:defRPr>
            </a:pPr>
            <a:r>
              <a:t>✓ Autonomous Omnichannel Collateral: </a:t>
            </a:r>
          </a:p>
          <a:p>
            <a:pPr>
              <a:spcAft>
                <a:spcPts val="400"/>
              </a:spcAft>
              <a:defRPr sz="1000">
                <a:solidFill>
                  <a:srgbClr val="4B5563"/>
                </a:solidFill>
                <a:latin typeface="Arial"/>
              </a:defRPr>
            </a:pPr>
            <a:r>
              <a:t>    Goes beyond recommendations by generating ready-to-send WhatsApp messages, POS scripts, and posters in seconds.</a:t>
            </a:r>
          </a:p>
          <a:p>
            <a:pPr>
              <a:spcAft>
                <a:spcPts val="100"/>
              </a:spcAft>
              <a:defRPr sz="1100" b="1">
                <a:solidFill>
                  <a:srgbClr val="111827"/>
                </a:solidFill>
                <a:latin typeface="Arial"/>
              </a:defRPr>
            </a:pPr>
            <a:r>
              <a:t>✓ Built for Scale &amp; Accessibility: </a:t>
            </a:r>
          </a:p>
          <a:p>
            <a:pPr>
              <a:spcAft>
                <a:spcPts val="400"/>
              </a:spcAft>
              <a:defRPr sz="1000">
                <a:solidFill>
                  <a:srgbClr val="4B5563"/>
                </a:solidFill>
                <a:latin typeface="Arial"/>
              </a:defRPr>
            </a:pPr>
            <a:r>
              <a:t>    Sub-dollar monthly operating cost enables widespread deployment across millions of neighborhood retailers worldwide.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